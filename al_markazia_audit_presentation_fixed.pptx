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4575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575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  <a:defRPr sz="3400" b="1">
                <a:solidFill>
                  <a:srgbClr val="F8FAFC"/>
                </a:solidFill>
                <a:latin typeface="Segoe UI"/>
              </a:defRPr>
            </a:pPr>
            <a:r>
              <a:rPr sz="3400" b="1">
                <a:solidFill>
                  <a:srgbClr val="F8FAFC"/>
                </a:solidFill>
                <a:latin typeface="Segoe UI"/>
              </a:rPr>
              <a:t>التقرير الأمني والتقني الشامل لمنظومة "المركزية"</a:t>
            </a:r>
          </a:p>
          <a:p>
            <a:pPr algn="l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94A3B8"/>
                </a:solidFill>
                <a:latin typeface="Segoe UI"/>
              </a:defRPr>
            </a:pPr>
            <a:r>
              <a:rPr sz="2200" b="1">
                <a:solidFill>
                  <a:srgbClr val="94A3B8"/>
                </a:solidFill>
                <a:latin typeface="Segoe UI"/>
              </a:rPr>
              <a:t>Executive Technical and Security Audit of "Al Markazia"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457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rPr sz="1600" b="0">
                <a:solidFill>
                  <a:srgbClr val="94A3B8"/>
                </a:solidFill>
                <a:latin typeface="Segoe UI"/>
              </a:rPr>
              <a:t>التشريح الفني للبنية التحتية، لوحة التحكم، وتطبيق الجوال وقاعدة البيانات</a:t>
            </a:r>
          </a:p>
          <a:p>
            <a:pPr algn="l">
              <a:lnSpc>
                <a:spcPct val="125000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Segoe UI"/>
              </a:defRPr>
            </a:pPr>
            <a:r>
              <a:rPr sz="1300" b="0">
                <a:solidFill>
                  <a:srgbClr val="64748B"/>
                </a:solidFill>
                <a:latin typeface="Segoe UI"/>
              </a:rPr>
              <a:t>Architecture breakdown of Backend, Admin Portal, Flutter App, and Database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94457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  <a:defRPr sz="1200" b="0">
                <a:solidFill>
                  <a:srgbClr val="10B981"/>
                </a:solidFill>
                <a:latin typeface="Segoe UI"/>
              </a:defRPr>
            </a:pPr>
            <a:r>
              <a:rPr sz="1200" b="0">
                <a:solidFill>
                  <a:srgbClr val="10B981"/>
                </a:solidFill>
                <a:latin typeface="Segoe UI"/>
              </a:rPr>
              <a:t>إعداد: فريق هندسة النظم والتدقيق الأمني |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rPr sz="2200" b="1">
                <a:solidFill>
                  <a:srgbClr val="10B981"/>
                </a:solidFill>
                <a:latin typeface="Segoe UI"/>
              </a:rPr>
              <a:t>استكشاف هيكلية المنظومة وشجرة مجلدات المشروع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1">
                <a:solidFill>
                  <a:srgbClr val="94A3B8"/>
                </a:solidFill>
                <a:latin typeface="Segoe UI"/>
              </a:defRPr>
            </a:pPr>
            <a:r>
              <a:rPr sz="1400" b="1">
                <a:solidFill>
                  <a:srgbClr val="94A3B8"/>
                </a:solidFill>
                <a:latin typeface="Segoe UI"/>
              </a:rPr>
              <a:t>Project Discovery and Repository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60152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811512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يتكون مشروع "المركزية" (Al Markazia) من ثلاثة مشاريع فرعية متكاملة ومترابطة:</a:t>
            </a:r>
          </a:p>
          <a:p>
            <a:pPr algn="l">
              <a:spcAft>
                <a:spcPts val="400"/>
              </a:spcAft>
              <a:defRPr sz="1100" b="1">
                <a:solidFill>
                  <a:srgbClr val="CBD5E1"/>
                </a:solidFill>
                <a:latin typeface="Courier New"/>
              </a:defRPr>
            </a:pPr>
            <a:r>
              <a:t>p4/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ourier New"/>
              </a:defRPr>
            </a:pPr>
            <a:r>
              <a:t>├── admin_panel/               # لوحة تحكم ويب إدارية (React v19 SPA, Vite v8, Tailwind v4)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ourier New"/>
              </a:defRPr>
            </a:pPr>
            <a:r>
              <a:t>│   ├── src/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ourier New"/>
              </a:defRPr>
            </a:pPr>
            <a:r>
              <a:t>│   │   ├── api/ client.js     # عميل شبكة الاتصال وتمرير التوكنز وعلاج الأخطاء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ourier New"/>
              </a:defRPr>
            </a:pPr>
            <a:r>
              <a:t>│   │   ├── components/        # عناصر الواجهة المشتركة (Thermal Printer, Custom Form Renderer)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ourier New"/>
              </a:defRPr>
            </a:pPr>
            <a:r>
              <a:t>│   │   ├── pages/             # الصفحات الحية (LiveOrders, LiveDashboard, CustomFields, CRMLeads)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ourier New"/>
              </a:defRPr>
            </a:pPr>
            <a:r>
              <a:t>│   │   └── main.jsx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ourier New"/>
              </a:defRPr>
            </a:pPr>
            <a:r>
              <a:t>├── al_markazia_app/           # تطبيق جوال العميل الهجين (Flutter App, State: Provider)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ourier New"/>
              </a:defRPr>
            </a:pPr>
            <a:r>
              <a:t>│   ├── lib/features/          # شاشات تصفح الوجبات، سلة الشراء، نادي الولاء، والتتبع الجغرافي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ourier New"/>
              </a:defRPr>
            </a:pPr>
            <a:r>
              <a:t>│   ├── lib/services/          # OfflineQueueService (طابور مهام الأوفلاين) والتخزين الآمن SecureStorage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ourier New"/>
              </a:defRPr>
            </a:pPr>
            <a:r>
              <a:t>└── al_markazia_backend/       # السيرفر الخلفي والتحكم بقاعدة البيانات (Node.js, Express, Prisma ORM)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ourier New"/>
              </a:defRPr>
            </a:pPr>
            <a:r>
              <a:t>    ├── prisma/schema.prisma   # ملف القاموس الهندسي لـ PostgreSQL والـ Prisma middlewares التشفيرية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ourier New"/>
              </a:defRPr>
            </a:pPr>
            <a:r>
              <a:t>    ├── src/middleware/        # حوكمة الجلسات (auth.js)، عزل الفروع (branchAccess)، وتحديد معدل الطلبات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ourier New"/>
              </a:defRPr>
            </a:pPr>
            <a:r>
              <a:t>    └── src/services/          # idempotencyService (حماية الفوترة المزدوجة) و customFieldService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rPr sz="2200" b="1">
                <a:solidFill>
                  <a:srgbClr val="10B981"/>
                </a:solidFill>
                <a:latin typeface="Segoe UI"/>
              </a:rPr>
              <a:t>البنية التقنية التفصيلية للمنظومة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1">
                <a:solidFill>
                  <a:srgbClr val="94A3B8"/>
                </a:solidFill>
                <a:latin typeface="Segoe UI"/>
              </a:defRPr>
            </a:pPr>
            <a:r>
              <a:rPr sz="1400" b="1">
                <a:solidFill>
                  <a:srgbClr val="94A3B8"/>
                </a:solidFill>
                <a:latin typeface="Segoe UI"/>
              </a:rPr>
              <a:t>Technology Stack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6792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خادم الباك اند والبنية التحتية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Backend Engine and Core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بيئة التشغيل والخادم: بيئة Node.js v20 مع Express.js (v5.2.1) لدعم الطلبات بكفاءة عالية.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Node.js v20 with Express.js (v5.2.1) serving as the core HTTP backend service.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محرك قاعدة البيانات والـ ORM: استخدام Prisma ORM (v6.19.2) مع PostgreSQL لتبسيط العمليات.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Prisma ORM (v6.19.2) abstracting database queries with PostgreSQL engine.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الذاكرة الموزعة وإدارة الحالات: Redis (ioredis v5.10.1) للمهام الفورية والذاكرة المؤقتة والطوابير.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Redis (ioredis v5.10.1) handling rate limiting, sessions, and BullMQ queues.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التحليلات وتتبع الأخطاء: تفعيل OpenTelemetry لتتبع السجلات ومكتبة Sentry لرصد الأخطاء الفورية.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OpenTelemetry SDK for observability and Sentry node client for error logging.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لوحة التحكم وتطبيق الجوال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Admin Panel and Flutter Mobile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لوحة التحكم (React): تطبيق ويب SPA مبني بـ React v19.2.4 مع Vite v8.0.1 للتجميع السريع.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React v19.2.4 single-page application compiled using Vite v8.0.1.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تنسيق الواجهات والمقاييس: استخدام Tailwind CSS v4.2.2 مع Framer Motion للحركات الحية.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Tailwind CSS v4.2.2 and Framer Motion generating modern visual interfaces.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تطبيق الجوال (Flutter): تطبيق هجين بلغة Dart و Flutter مع إدارة الحالة بالـ Provider v6.1.2.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Flutter mobile hybrid app using Provider v6.1.2 pattern for state storage.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التخزين وأمان الهاتف: استخدام Secure Storage لحفظ التوكنز والرموز السرية عتادياً بالهاتف.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Flutter Secure Storage and SharedPreferences managing key parameters locally.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rPr sz="2200" b="1">
                <a:solidFill>
                  <a:srgbClr val="10B981"/>
                </a:solidFill>
                <a:latin typeface="Segoe UI"/>
              </a:rPr>
              <a:t>بيئة التشغيل وتوزيع خوادم النظام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1">
                <a:solidFill>
                  <a:srgbClr val="94A3B8"/>
                </a:solidFill>
                <a:latin typeface="Segoe UI"/>
              </a:defRPr>
            </a:pPr>
            <a:r>
              <a:rPr sz="1400" b="1">
                <a:solidFill>
                  <a:srgbClr val="94A3B8"/>
                </a:solidFill>
                <a:latin typeface="Segoe UI"/>
              </a:rPr>
              <a:t>Environment and Container Deployment Config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6792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إدارة الحاويات الافتراضية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Docker Configurations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البناء متعدد المراحل (Multi-stage): يعتمد خادم التطبيق على Dockerfile يبدأ بـ alpine node لتصغير الحجم.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Multi-stage Dockerfile setup utilizing node:20-alpine image to minimize package footprint.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توليد عميل بريزما: يتم توليد Prisma Client تلقائياً داخل الحاوية قبل إطلاق السيرفر لضمان الاتصال.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Prisma Client generated automatically inside build wrapper for database bindings.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أمان المتغيرات: يُدار تحميل متغيرات البيئة عبر أداة dotenvx لضمان تشفير الملفات والمفاتيح السحابية.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dotenvx orchestrating environment loading with encrypted variable payloads.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توزيع الخوادم في الإنتاج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Production docker-compose 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حاوية خادم التطبيق: تشغيل كود Node.js/Express وربطه بالشبكة الداخلية المعزولة للإنتاج.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Express.js application server running core services inside isolated docker subnet.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خوادم البيانات PostgreSQL &amp; Redis: قواعد بيانات منفصلة للبيانات الثابتة والمؤقتة.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PostgreSQL DB and Redis cache instance running inside internal data network.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خادم بوابة Nginx: يعمل كوسيط عكسي (Reverse Proxy) وموزع للحمل (Load Balancer) لحماية المنظومة.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Nginx proxy instance accepting client HTTP entries and routing requests safely.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rPr sz="2200" b="1">
                <a:solidFill>
                  <a:srgbClr val="10B981"/>
                </a:solidFill>
                <a:latin typeface="Segoe UI"/>
              </a:rPr>
              <a:t>نظام طوابير العمل والذاكرة الموزعة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1">
                <a:solidFill>
                  <a:srgbClr val="94A3B8"/>
                </a:solidFill>
                <a:latin typeface="Segoe UI"/>
              </a:defRPr>
            </a:pPr>
            <a:r>
              <a:rPr sz="1400" b="1">
                <a:solidFill>
                  <a:srgbClr val="94A3B8"/>
                </a:solidFill>
                <a:latin typeface="Segoe UI"/>
              </a:rPr>
              <a:t>Queue Management and Distributed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6792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إدارة طوابير الخلفية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BullMQ Queue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طابور الطلبات (orderQueue): تلقي طلبات الشراء وجدولة إرسالها للمطبخ ومراقبة زمن SLA للتحضير.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Order queue managing purchases and kitchen SLA timings.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طابور البريد (emailQueue): إرسال فواتير المبيعات والتنبيهات البريدية للمشتركين بالخلفية بشكل آمن.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Email queue handling asynchronous delivery of invoices and alerts.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طابور الفحص (moderationQueue): تصفية تقييمات العملاء وتدقيقها بالخلفية لمنع التعليقات الضارة.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Moderation queue auditing product reviews automatically before publishing.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المهام المجدولة والذاكرة المؤقتة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Cron Jobs and Distributed Cache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المهام المجدولة (Cron Jobs): تشغيل المهام بالـ node-cron وحمايتها بقفل موزع في Redis لمنع الازدواجية.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Scheduled cron tasks synchronized with Redis distributed locking.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الذاكرة المؤقتة المحلية: استخدام node-cache لحفظ المعطيات غير المتغيرة كالفروع وساعات العمل بالذاكرة.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Local node-cache instance minimizing DB query overhead for static parameters.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الذاكرة المشتركة الموزعة: استخدام Redis لحفظ الجلسات وتفاصيل ساعات السعادة الترويجية النشطة.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Redis serving as shared state manager for sessions and campaigns.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rPr sz="2200" b="1">
                <a:solidFill>
                  <a:srgbClr val="10B981"/>
                </a:solidFill>
                <a:latin typeface="Segoe UI"/>
              </a:rPr>
              <a:t>معمارية خادم الباك اند ودورة حياة الطلب المالي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1">
                <a:solidFill>
                  <a:srgbClr val="94A3B8"/>
                </a:solidFill>
                <a:latin typeface="Segoe UI"/>
              </a:defRPr>
            </a:pPr>
            <a:r>
              <a:rPr sz="1400" b="1">
                <a:solidFill>
                  <a:srgbClr val="94A3B8"/>
                </a:solidFill>
                <a:latin typeface="Segoe UI"/>
              </a:rPr>
              <a:t>Backend Request to DB Commit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60152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811512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الخطوة 1: استقبال الطلب وفحصه ديناميكياً بواسطة محدد معدل الطلبات الموزع (Rate Limiter) بـ Redis.</a:t>
            </a:r>
          </a:p>
          <a:p>
            <a:pPr algn="r">
              <a:lnSpc>
                <a:spcPct val="125000"/>
              </a:lnSpc>
              <a:spcAft>
                <a:spcPts val="10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الخطوة 2: التحقق من هوية المستخدم وبصمة الجهاز لمنع تزوير الطلبات وجلسات الاختطاف بالـ Session middleware.</a:t>
            </a:r>
          </a:p>
          <a:p>
            <a:pPr algn="r">
              <a:lnSpc>
                <a:spcPct val="125000"/>
              </a:lnSpc>
              <a:spcAft>
                <a:spcPts val="10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الخطوة 3: تطبيق وسيط عزل الفروع وتثبيت السياق الجغرافي للفرع النشط بالـ branchAccessMiddleware.</a:t>
            </a:r>
          </a:p>
          <a:p>
            <a:pPr algn="r">
              <a:lnSpc>
                <a:spcPct val="125000"/>
              </a:lnSpc>
              <a:spcAft>
                <a:spcPts val="10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الخطوة 4: التحقق من رمز الـ PIN الخاص بالمدير للعمليات المالية المعلقة (مثل الإرجاع أو الخصومات الكبرى).</a:t>
            </a:r>
          </a:p>
          <a:p>
            <a:pPr algn="r">
              <a:lnSpc>
                <a:spcPct val="125000"/>
              </a:lnSpc>
              <a:spcAft>
                <a:spcPts val="10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الخطوة 5: التحقق من مفتاح الإديمبوتينسي (Idempotency Key) لمنع الفوترة المزدوجة أو تكرار الطلبات.</a:t>
            </a:r>
          </a:p>
          <a:p>
            <a:pPr algn="r">
              <a:lnSpc>
                <a:spcPct val="125000"/>
              </a:lnSpc>
              <a:spcAft>
                <a:spcPts val="10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الخطوة 6: معالجة الطلب في طبقة الـ Controller والخدمات واستدعاء Prisma extension لتشفير البيانات الشخصية.</a:t>
            </a:r>
          </a:p>
          <a:p>
            <a:pPr algn="r">
              <a:lnSpc>
                <a:spcPct val="125000"/>
              </a:lnSpc>
              <a:spcAft>
                <a:spcPts val="10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الخطوة 7: إطلاق معاملة قاعدة البيانات الذرية ($transaction) وتطبيق سياسات عزل الصفوف PostgreSQL RLS.</a:t>
            </a:r>
          </a:p>
          <a:p>
            <a:pPr algn="r">
              <a:lnSpc>
                <a:spcPct val="125000"/>
              </a:lnSpc>
              <a:spcAft>
                <a:spcPts val="10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الخطوة 8: إتمام الحفظ (Commit) بنجاح وإدراج حدث الـ Outbox وجدولة المهام ثم إرجاع النتيجة للعميل.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rPr sz="2200" b="1">
                <a:solidFill>
                  <a:srgbClr val="10B981"/>
                </a:solidFill>
                <a:latin typeface="Segoe UI"/>
              </a:rPr>
              <a:t>وسائط المعالجة وجدار الحماية بالباك اند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1">
                <a:solidFill>
                  <a:srgbClr val="94A3B8"/>
                </a:solidFill>
                <a:latin typeface="Segoe UI"/>
              </a:defRPr>
            </a:pPr>
            <a:r>
              <a:rPr sz="1400" b="1">
                <a:solidFill>
                  <a:srgbClr val="94A3B8"/>
                </a:solidFill>
                <a:latin typeface="Segoe UI"/>
              </a:rPr>
              <a:t>Backend Middlewares and Guards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6792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تتبع الطلبات ومحددات المعدل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Tracing and Request Rate Limiting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وسيط التتبع (requestTracing): توليد requestId فريد لكل طلب وحفظه بـ AsyncLocalStorage.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Generating unique UUIDs mapped inside AsyncLocalStorage context.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محدد المعدل الذكي: تشغيل LUA سكربت بـ Redis للتحقق من عدد طلبات العميل خلال دقيقة.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Redis LUA script tracking request frequency per IP.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محدد الـ Circuit Breaker: يعزل محدد المعدل تلقائياً في حال تعطل Redis لمنع توقف السيرفر.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Bypassing Redis rate check seamlessly if cache nodes fail.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عزل الفروع وتضارب التعديل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Branch Isolation and Concurrency Guards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وسيط عزل الفروع: branchAccessMiddleware يستخلص معرّف الفرع لتنفيذ سياسة RLS.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Setting the branch context header for query filtering.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حارس الصلاحيات: permissionMiddleware يفحص أدوار وصلاحيات الموظف لتسجيل الأنشطة.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Validating granular role scopes within the token object.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وسيط رصد التضارب: conflictDetection.js يفحص ترويسة if-match لرصد تعارض النسخ.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Checking version match header to block dirty concurrent edits.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rPr sz="2200" b="1">
                <a:solidFill>
                  <a:srgbClr val="10B981"/>
                </a:solidFill>
                <a:latin typeface="Segoe UI"/>
              </a:rPr>
              <a:t>لوحة التحكم الإدارية - التقنيات والشاشات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1">
                <a:solidFill>
                  <a:srgbClr val="94A3B8"/>
                </a:solidFill>
                <a:latin typeface="Segoe UI"/>
              </a:defRPr>
            </a:pPr>
            <a:r>
              <a:rPr sz="1400" b="1">
                <a:solidFill>
                  <a:srgbClr val="94A3B8"/>
                </a:solidFill>
                <a:latin typeface="Segoe UI"/>
              </a:rPr>
              <a:t>React Admin Panel Design and Portal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6792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بنية واجهات التحكم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Frontend 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بناء الواجهات: React v19 SPA مع Vite v8 للتجميع السريع جداً للواجهات والمكونات.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React v19 single page app powered by Vite v8 build client.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التصميم والأنيميشن: Tailwind CSS v4 لتنسيق الألوان مع Framer Motion للحركات الحية.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Tailwind CSS v4 design with Framer Motion UI transitions.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إدارة الحالة والطلبات: الاستعانة بـ React Query v5 للطلب وكاش واجهات الـ API.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React Query v5 managing server cache states and background synchronizations.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شاشات لوحة التحكم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Core Management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إدارة الفروع والمنيو: شاشات MenuManager و DeliveryZonesManager لتسيير الأسعار والتوصيل.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Menu and delivery zones screens controlling prices and branch rules.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لوحة المراقبة والتدقيق: LiveDashboard لمراقبة الدخل و AuditLog لتتبع أحداث التعديل للبيانات.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Live metrics dashboard and audit logs showing data changes.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أنظمة المبيعات والـ CRM: شاشات CRMLeads و CRMPipeline و DiscountsManager للتسويق.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CRM pipelines and discount management screens driving sales campaigns.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rPr sz="2200" b="1">
                <a:solidFill>
                  <a:srgbClr val="10B981"/>
                </a:solidFill>
                <a:latin typeface="Segoe UI"/>
              </a:rPr>
              <a:t>تفصيل شاشات التحكم الحية والتشغيل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1">
                <a:solidFill>
                  <a:srgbClr val="94A3B8"/>
                </a:solidFill>
                <a:latin typeface="Segoe UI"/>
              </a:defRPr>
            </a:pPr>
            <a:r>
              <a:rPr sz="1400" b="1">
                <a:solidFill>
                  <a:srgbClr val="94A3B8"/>
                </a:solidFill>
                <a:latin typeface="Segoe UI"/>
              </a:rPr>
              <a:t>Live Operations Dashboard and Order 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6792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لوحة المراقبة اللحظية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Live Dashboard Logic (LiveDashboard.jsx)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حالات الولادة الفورية (useState): حفظ الإحصائيات النشطة وقائمة الطلبات وحالة اتصال الخادم.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React states tracking revenue counters, order lists, and Socket.io connectivity.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الاتصال الحقيقي بالـ Websockets: الاستماع الفوري لأحداث order:created لتحديث المخططات المالية.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Real-time listener for newly placed invoices to update charts.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مؤشر حالة الاتصال: إشارة تحذير حمراء تنبه المدير في حال انقطاع الـ Websocket عن السيرفر.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Connection status alert indicating WebSocket synchronization loss.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شاشة الطلبات الحية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Kitchen Order Flow (LiveOrders.jsx)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إدارة السحب والإسقاط (DND): استخدام hello-pangea/dnd لنقل الطلبات بين مراحل التحضير.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Drag-and-drop workflow moving orders from new to cooking to ready.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مؤقتات زمن التحضير: عد تنازلي يظهر حياً لكل وجبة لضمان مطابقتها لشروط SLA المتفق عليها.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Active countdown timers warning kitchen staff of preparation SLA breaches.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طباعة الفواتير الحرارية: تكامل Modal الفواتير مع الطابعة الحرارية وتوليد رمز الاستجابة السريع QR.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Invoice modals integrating print commands for physical kitchen tickets.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rPr sz="2200" b="1">
                <a:solidFill>
                  <a:srgbClr val="10B981"/>
                </a:solidFill>
                <a:latin typeface="Segoe UI"/>
              </a:rPr>
              <a:t>تفصيل شاشات إدارة المعطيات والمنيو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1">
                <a:solidFill>
                  <a:srgbClr val="94A3B8"/>
                </a:solidFill>
                <a:latin typeface="Segoe UI"/>
              </a:defRPr>
            </a:pPr>
            <a:r>
              <a:rPr sz="1400" b="1">
                <a:solidFill>
                  <a:srgbClr val="94A3B8"/>
                </a:solidFill>
                <a:latin typeface="Segoe UI"/>
              </a:rPr>
              <a:t>Data Configuration, Menu, Zones, and Fields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6792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التوصيل وقائمة الطعام صنفياً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Delivery Zones and Menu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مناطق التوصيل: DeliveryZonesManager تتيح إدارة رسوم ومناطق التوصيل وحمايتها بـ PIN المدير.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Delivery zone coordinator applying geographic delivery fees based on branch.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شاشة المنيو: MenuManager تدعم البحث الذكي (Debounced) للحد من ضغط السيرفر أثناء البحث.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Menu manager with debounced queries optimizing search API hits.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رفع صور الوجبات: استخدام react-dropzone لرفع الصور واستلام روابط التخزين السحابية.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Dropzone upload module saving images and obtaining storage URLs.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إدارة الحاويات الافتراضية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Custom Fields Definitions (CustomFieldsManager.jsx)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تعريف الحقول الديناميكية: تخصيص استمارات الفرص والعملاء المحتملين بجدول CustomFieldDefinition.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Dynamic field definition schema adding custom inputs to Leads and Opportunities.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حقول القوائم المنسدلة (SELECT): معالجة النصوص المفصولة بفاصلة وتحويلها لمصفوفة خيارات.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Comma-separated text conversion to JSON arrays for SELECT definitions.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التصفية وعزل الفروع: عزل تعريفات الحقول لتظهر لفرع معين أو تحديدها كحقول عامة لكل الفروع.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Scoping definitions either to a specific branch or globally across all tenants.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rPr sz="2200" b="1">
                <a:solidFill>
                  <a:srgbClr val="10B981"/>
                </a:solidFill>
                <a:latin typeface="Segoe UI"/>
              </a:rPr>
              <a:t>نظام إدارة علاقات العملاء - دورات الحياة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1">
                <a:solidFill>
                  <a:srgbClr val="94A3B8"/>
                </a:solidFill>
                <a:latin typeface="Segoe UI"/>
              </a:defRPr>
            </a:pPr>
            <a:r>
              <a:rPr sz="1400" b="1">
                <a:solidFill>
                  <a:srgbClr val="94A3B8"/>
                </a:solidFill>
                <a:latin typeface="Segoe UI"/>
              </a:rPr>
              <a:t>CRM Pipelines and Customer Lifecycles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6792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دورة حياة العميل المحتمل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Lead Stage Transitions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مرحلة العميل الجديد (NEW): ينشأ العميل بالجدول وتُشفر بياناته الشخصية بالـ AES-256-GCM.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Lead record created in NEW state with encrypted name and phone.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رعاية التواصل (CONTACTED): المتابعة وتوثيق الأنشطة (مكالمة، إيميل) بجدول SalesActivity.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Sales representative logging whatsapp/call activities converting state to CONTACTED.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التأهيل والتحويل (CONVERTED): تأهيل العميل وربطه بملف عميل مسجل customerId.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Lead validation and conversion mapping to active Customer 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دورة حياة الصفقة الفرعية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Opportunity Sales Stages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إنشاء الصفقة (NEW): ربط الفرصة بالـ Lead أو الـ Customer وتحديد القيمة المالية وتاريخ الإغلاق.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Opportunity record created tracking financial value and expected closing dates.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التقدم والتدقيق: انتقال الصفقة عبر المراحل ورصد الحركات في OpportunityAuditLog.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Symmetrical stage progression monitored by historical audit logs.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الإغلاق النهائي (Won/Lost): الفوز بالصفقة أو إغلاقها خاسرة مع كتابة سبب الخسارة إجبارياً.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Forced input of lossReason key when marking opportunity as LOST.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rPr sz="2200" b="1">
                <a:solidFill>
                  <a:srgbClr val="10B981"/>
                </a:solidFill>
                <a:latin typeface="Segoe UI"/>
              </a:rPr>
              <a:t>تفصيل مسار تأهيل وتحويل العملاء بالـ CRM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1">
                <a:solidFill>
                  <a:srgbClr val="94A3B8"/>
                </a:solidFill>
                <a:latin typeface="Segoe UI"/>
              </a:defRPr>
            </a:pPr>
            <a:r>
              <a:rPr sz="1400" b="1">
                <a:solidFill>
                  <a:srgbClr val="94A3B8"/>
                </a:solidFill>
                <a:latin typeface="Segoe UI"/>
              </a:rPr>
              <a:t>Detailed Lead-to-Opportunity Transaction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60152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9811512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10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الخطوة 1: إنشاء العميل المحتمل عبر POST /api/v1/crm/leads مع إرسال Idempotency-Key لمنع تكرار الإدخال.</a:t>
            </a:r>
          </a:p>
          <a:p>
            <a:pPr algn="r">
              <a:lnSpc>
                <a:spcPct val="125000"/>
              </a:lnSpc>
              <a:spcAft>
                <a:spcPts val="10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الخطوة 2: تشفير الاسم والهاتف والإيميل بالباك اند عبر Prisma middleware لحماية البيانات PII بالـ AES-256-GCM.</a:t>
            </a:r>
          </a:p>
          <a:p>
            <a:pPr algn="r">
              <a:lnSpc>
                <a:spcPct val="125000"/>
              </a:lnSpc>
              <a:spcAft>
                <a:spcPts val="10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الخطوة 3: تدوين نشاط تواصل (مكالمة، إيميل، واتساب) بجدول SalesActivity وربطه بالعميل والفرع تلقائياً.</a:t>
            </a:r>
          </a:p>
          <a:p>
            <a:pPr algn="r">
              <a:lnSpc>
                <a:spcPct val="125000"/>
              </a:lnSpc>
              <a:spcAft>
                <a:spcPts val="10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الخطوة 4: تحويل العميل المحتمل لعميل مسجل عبر دالة convertLead ونقل حقوله المخصصة آلياً لـ Customer ID مخصص.</a:t>
            </a:r>
          </a:p>
          <a:p>
            <a:pPr algn="r">
              <a:lnSpc>
                <a:spcPct val="125000"/>
              </a:lnSpc>
              <a:spcAft>
                <a:spcPts val="10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الخطوة 5: إنشاء صفقة مبيعات (Opportunity) وتحديد القيمة المالية المتوقعة وتاريخ الإغلاق لخط الأنابيب.</a:t>
            </a:r>
          </a:p>
          <a:p>
            <a:pPr algn="r">
              <a:lnSpc>
                <a:spcPct val="125000"/>
              </a:lnSpc>
              <a:spcAft>
                <a:spcPts val="10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• الخطوة 6: معالجة حركة المراحل للصفقة وحمايتها بأقفال التزامن (Optimistic Locking) للتحقق من عدم حدوث تعارض بالنسخة.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rPr sz="2200" b="1">
                <a:solidFill>
                  <a:srgbClr val="10B981"/>
                </a:solidFill>
                <a:latin typeface="Segoe UI"/>
              </a:rPr>
              <a:t>تطبيق الجوال - واجهات وتجربة Flutter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1">
                <a:solidFill>
                  <a:srgbClr val="94A3B8"/>
                </a:solidFill>
                <a:latin typeface="Segoe UI"/>
              </a:defRPr>
            </a:pPr>
            <a:r>
              <a:rPr sz="1400" b="1">
                <a:solidFill>
                  <a:srgbClr val="94A3B8"/>
                </a:solidFill>
                <a:latin typeface="Segoe UI"/>
              </a:rPr>
              <a:t>Flutter Mobile Client Application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6792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تقنيات تطبيق الجوال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Flutter UI Engine and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إطار العمل وإدارة الحالة: مبني بالـ Flutter v3 مع إدارة الحالة بالـ Provider لضمان استقرار العمليات.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Flutter SDK client with Provider pattern driving state synchronizations.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شاشات التطبيق: يحتوي على 17 شاشة رئيسية تغطي التصفح، السلة، ونادي الولاء للزبائن.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17 screens covering customer catalog, cart checkout, and loyalty points.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التخزين الآمن بالهاتف: استخدام Secure Storage لحفظ كلمات الـ PIN وتوكينات الوصول عتادياً.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Flutter Secure Storage API locking tokens inside device hardware keychains.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التتبع والإشعارات الفورية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Live Driver Tracking and Push Notifications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تتبع السائق الحقيقي: تكامل geolocator مع Google Maps Flutter API لرصد موقع السائق حياً.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Google Maps and geolocator tracking driver coordinates in real-time.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بث الموقع بالـ Websocket: إرسال الإحداثيات للمخدم الذي يعيد توجيهها للعميل لحظة بلحظة.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Socket.io client broadcasting active path updates to the order room.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الإشعارات السحابية (FCM): استخدام firebase_messaging لاستقبال تنبيهات تحديث الطلبات حياً.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Firebase Cloud Messaging handling immediate status notifications.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rPr sz="2200" b="1">
                <a:solidFill>
                  <a:srgbClr val="10B981"/>
                </a:solidFill>
                <a:latin typeface="Segoe UI"/>
              </a:rPr>
              <a:t>دعم أعمال الأوفلاين وأمان التخزين بالهاتف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1">
                <a:solidFill>
                  <a:srgbClr val="94A3B8"/>
                </a:solidFill>
                <a:latin typeface="Segoe UI"/>
              </a:defRPr>
            </a:pPr>
            <a:r>
              <a:rPr sz="1400" b="1">
                <a:solidFill>
                  <a:srgbClr val="94A3B8"/>
                </a:solidFill>
                <a:latin typeface="Segoe UI"/>
              </a:rPr>
              <a:t>Flutter Offline Resilience and Secure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6792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دعم العمل دون اتصال بالشبكة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Local Offline 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طابور الطلبات المحلي: خدمة OfflineQueueService تجمع الطلبات بسجل محلي في حال انقطاع الشبكة.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OfflineQueueService caching requests locally when internet connection drops.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كشف عودة الإنترنت: تستمع الخدمة لتغيرات الشبكة وتتحقق من توافر الخادم الرئيسي آلياً.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Connectivity listeners checking server availability in the background.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مزامنة الطلبات المعلقة: بمجرد رصد عودة الإنترنت، تُرسل الطلبات بالتسلسل الصحيح لخادم الباك اند.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Automatic sequential flush of pending requests to backend.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تشفير التخزين المحلي وأمنه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Obfuscation and Hardware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تشفير XOR المحلي: يستخدم التطبيق قناع XOR لحفظ الطلبات محلياً بالهاتف (يعتبر ثغرة أمنية).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XOR obfuscation mask hiding local request payloads (classified as vulnerability).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كشف الرمز الثابت: المفتاح المستخدم للتشفير ثابت ومكشوف بالملف، مما يسهل كسره برمجياً.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Hardcoded encryption key exposure allowing decryption on rooted devices.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التوصية البديلة للتشفير: التحول لتشفير AES-GCM حقيقي مع حفظ المفاتيح بمخزن الحماية العتادي للهاتف.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Recommendation: Upgrade to AES-GCM utilizing secure hardware keystores.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rPr sz="2200" b="1">
                <a:solidFill>
                  <a:srgbClr val="10B981"/>
                </a:solidFill>
                <a:latin typeface="Segoe UI"/>
              </a:rPr>
              <a:t>قاعدة البيانات - تشفير البيانات وعزل الفروع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1">
                <a:solidFill>
                  <a:srgbClr val="94A3B8"/>
                </a:solidFill>
                <a:latin typeface="Segoe UI"/>
              </a:defRPr>
            </a:pPr>
            <a:r>
              <a:rPr sz="1400" b="1">
                <a:solidFill>
                  <a:srgbClr val="94A3B8"/>
                </a:solidFill>
                <a:latin typeface="Segoe UI"/>
              </a:rPr>
              <a:t>Database Encryption Middleware and RLS Policies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6792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تشفير البيانات الشخصية PII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Prisma Encryption Middleware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التشفير الآلي للتخزين: تشفير فوري لحقول الإيميل والهاتف والاسم عند الحفظ بفضل Prisma middleware.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Automated column-level encryption for sensitive user inputs.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خوارزمية التشفير المعتمدة: استخدام AES-256-GCM مع توليد IV عشوائي 12 بايت لكل معاملة.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AES-256-GCM cipher with random 12-byte initialization vectors.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التجزئة العمياء للبحث (Blind Index): توليد SHA-256 HMAC للمدخلات للبحث دون فك التشفير.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SHA-256 HMAC hashes stored as blind indexes for fast query lookups.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سياسات عزل الجداول والأرشفة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Row-Level Security and Log Archiving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عزل الصفوف بقاعدة البيانات: فرض سياسات RLS للتأكد من وصول الموظف لسجلات فرعه فقط.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Row-Level Security (RLS) enforcing branch-level data isolation at the DB level.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استثناءات RLS للتحليلات: إلحاق bypass_rls لطلبات التحليلات والإحصائيات الكلية للشركة.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Bypass privileges reserved for total company financial audits.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الصيانة وأرشفة البيانات: أرشفة دورية وتلقائية لجدول OrderAuditLog الأقدم من 30 يوماً.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Scheduled daily archive partitioning logs older than 30 days.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rPr sz="2200" b="1">
                <a:solidFill>
                  <a:srgbClr val="10B981"/>
                </a:solidFill>
                <a:latin typeface="Segoe UI"/>
              </a:rPr>
              <a:t>القاموس الجنائي لقاعدة البيانات - هيكل الجداول الرئيسية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1">
                <a:solidFill>
                  <a:srgbClr val="94A3B8"/>
                </a:solidFill>
                <a:latin typeface="Segoe UI"/>
              </a:defRPr>
            </a:pPr>
            <a:r>
              <a:rPr sz="1400" b="1">
                <a:solidFill>
                  <a:srgbClr val="94A3B8"/>
                </a:solidFill>
                <a:latin typeface="Segoe UI"/>
              </a:rPr>
              <a:t>Database Schema Dictionary and Forensic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60152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811512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جدول المستخدمين (User): يحفظ الحقول المعرّفة (emailHash, phoneHash, password, role, pinHash) وفهرس idx_users_email لتسريع الدخول.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جدول الفروع (Branch): يحفظ معطيات الفروع (name, code, isActive, isEmergencyClosed) ومفتاح code الفريد ومؤشر الإغلاق العاجل.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جدول طلبات الشراء (Order): يربط الفواتير بالفروع والزبائن مع تتبع الحالات (status, subtotal, total, version) وفهارس التحديث الحي.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جدول العملاء المحتملين (Lead): يحفظ العملاء الجدد (name, phoneHash, emailHash, status, customFields) و RLS المعزول ديناميكياً للفرع.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جدول صفقات المبيعات (Opportunity): يتبع الصفقات البيعية (title, value, stage, leadId, version) لضمان عدم تضارب تعديل السجلات.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جدول دفتر الأستاذ المالي (FinancialLedger): يسجل القيود المحاسبية وحركات المحافظ (branchId, type, category, amount, balanceAfter).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جدول الاعتمادات المالية (FinancialApproval): يعلق العمليات عالية الخطورة (REFUND, riskLevel, payload) لانتظار موافقة المدير بالرمز السري.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جدول الجلسات والتوكنز (RefreshToken &amp; OutboxEvent): يحفظ جلسات الدخول الفعالة والمهام المعلقة بالـ Outbox لتسليمها بضمان بالخلفية.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rPr sz="2200" b="1">
                <a:solidFill>
                  <a:srgbClr val="10B981"/>
                </a:solidFill>
                <a:latin typeface="Segoe UI"/>
              </a:rPr>
              <a:t>طبقة الأمن وتأمين الجلسات بالمنظومة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1">
                <a:solidFill>
                  <a:srgbClr val="94A3B8"/>
                </a:solidFill>
                <a:latin typeface="Segoe UI"/>
              </a:defRPr>
            </a:pPr>
            <a:r>
              <a:rPr sz="1400" b="1">
                <a:solidFill>
                  <a:srgbClr val="94A3B8"/>
                </a:solidFill>
                <a:latin typeface="Segoe UI"/>
              </a:rPr>
              <a:t>Session Security, JWT Rotation, and Web Mitigations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6792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حوكمة الجلسات وإبطال التوكنز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JWT Rotation and Session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التدوير الآمن (Refresh Token Rotation): إبطال توكن التحديث القديم وتوليد رمز جديد عند كل طلب تجديد.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Refresh Token Rotation (RTR) validating UUID parameters dynamically.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كشف الاستيلاء والسرقة: إلغاء كافة الجلسات النشطة لأسرة التوكن في حال رصد استخدامه مرتين.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Token family revocation triggered if a refresh token is reused.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الإبطال الفوري للجلسة: زيادة authVersion للمستخدم يلغي جلسته فوراً بالوسيط auth.js.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Immediate session destruction via authVersion mismatch 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الحماية ضد الهجمات الإلكترونية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SQLi, XSS, and CSRF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منع حقن قاعدة البيانات (SQLi): الاعتماد الكلي على Prisma ORM واستعلاماته الجاهزة المجهزة.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Prisma ORM parameterized queries neutralizing SQL injection risks.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تعقيم المدخلات ضد الـ XSS: تصفية مدخلات المستخدم بالـ sanitize ومكتبة xss لمنع حقن السكريبتات.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XSS middleware sanitizing input payloads before DB insertion.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درع الحماية ضد الـ CSRF: تفعيل Double Cookie Submit للتحقق من كوكيز XSRF-TOKEN للطلبات.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Double Cookie Submit pattern blocking cross-site request forgery.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EF4444"/>
                </a:solidFill>
                <a:latin typeface="Segoe UI"/>
              </a:defRPr>
            </a:pPr>
            <a:r>
              <a:rPr sz="2200" b="1">
                <a:solidFill>
                  <a:srgbClr val="EF4444"/>
                </a:solidFill>
                <a:latin typeface="Segoe UI"/>
              </a:rPr>
              <a:t>الثغرات الأمنية المكتشفة وتوصيات الحل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1">
                <a:solidFill>
                  <a:srgbClr val="94A3B8"/>
                </a:solidFill>
                <a:latin typeface="Segoe UI"/>
              </a:defRPr>
            </a:pPr>
            <a:r>
              <a:rPr sz="1400" b="1">
                <a:solidFill>
                  <a:srgbClr val="94A3B8"/>
                </a:solidFill>
                <a:latin typeface="Segoe UI"/>
              </a:rPr>
              <a:t>Sourced Vulnerabilities and Remediation Gaps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32004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94276" y="1371600"/>
            <a:ext cx="32004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4152" y="1371600"/>
            <a:ext cx="32004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500" b="1">
                <a:solidFill>
                  <a:srgbClr val="EF4444"/>
                </a:solidFill>
                <a:latin typeface="Segoe UI"/>
              </a:defRPr>
            </a:pPr>
            <a:r>
              <a:rPr sz="1500" b="1">
                <a:solidFill>
                  <a:srgbClr val="EF4444"/>
                </a:solidFill>
                <a:latin typeface="Segoe UI"/>
              </a:rPr>
              <a:t>1. الرمز السري بالنص الواضح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rPr sz="1100" b="1">
                <a:solidFill>
                  <a:srgbClr val="94A3B8"/>
                </a:solidFill>
                <a:latin typeface="Segoe UI"/>
              </a:rPr>
              <a:t>Plaintext PIN Exposure (Critical)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29260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موقع الثغرة: ملف prisma/schema.prisma السطر 60 حقل plainPin.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schema.prisma field plainPin in User model.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المخاطر: تسريب رموز مدراء الفروع لسرقة العمليات والحسابات.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Leakage of manager codes if database is breached.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الحل: إزالة حقل plainPin نهائياً والاعتماد على pinHash فقط.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Remediation: Rely solely on hashed pinHash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1436" y="16002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500" b="1">
                <a:solidFill>
                  <a:srgbClr val="EF4444"/>
                </a:solidFill>
                <a:latin typeface="Segoe UI"/>
              </a:defRPr>
            </a:pPr>
            <a:r>
              <a:rPr sz="1500" b="1">
                <a:solidFill>
                  <a:srgbClr val="EF4444"/>
                </a:solidFill>
                <a:latin typeface="Segoe UI"/>
              </a:rPr>
              <a:t>2. عزل الملفات المرفوعة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rPr sz="1100" b="1">
                <a:solidFill>
                  <a:srgbClr val="94A3B8"/>
                </a:solidFill>
                <a:latin typeface="Segoe UI"/>
              </a:rPr>
              <a:t>Static Asset Gaps (High Risk)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1436" y="2148840"/>
            <a:ext cx="29260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موقع الثغرة: al_markazia_backend/server.js السطر 194.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server.js exposing uploads folder publicly.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المخاطر: تصفح فواتير وإيصالات مالية ومستندات حساسة.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Unauthorized access to sensitive user assets &amp; invoices.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الحل: بناء وسيط أمني يفحص جلسة المستخدم وصلاحياته بالخادم.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Remediation: Wrap uploads folder in authentication middleware.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16002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500" b="1">
                <a:solidFill>
                  <a:srgbClr val="EF4444"/>
                </a:solidFill>
                <a:latin typeface="Segoe UI"/>
              </a:defRPr>
            </a:pPr>
            <a:r>
              <a:rPr sz="1500" b="1">
                <a:solidFill>
                  <a:srgbClr val="EF4444"/>
                </a:solidFill>
                <a:latin typeface="Segoe UI"/>
              </a:rPr>
              <a:t>3. تشفير مهام الأوفلاين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100" b="1">
                <a:solidFill>
                  <a:srgbClr val="94A3B8"/>
                </a:solidFill>
                <a:latin typeface="Segoe UI"/>
              </a:defRPr>
            </a:pPr>
            <a:r>
              <a:rPr sz="1100" b="1">
                <a:solidFill>
                  <a:srgbClr val="94A3B8"/>
                </a:solidFill>
                <a:latin typeface="Segoe UI"/>
              </a:rPr>
              <a:t>Weak Local Encryption (Medium)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148840"/>
            <a:ext cx="29260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موقع الثغرة: ملف offline_queue_service.dart في تطبيق الجوال.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offline_queue_service.dart XOR encryption.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المخاطر: استخدام مفتاح ثابت يسهل كسر تشفيره برمجياً بالهاتف.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Static key exposure allowing payload decryption on device.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الحل: الترحيل لتشفيـر AES-GCM متكامل عبر مخزن الحماية العتادي.</a:t>
            </a:r>
          </a:p>
          <a:p>
            <a:pPr algn="r">
              <a:lnSpc>
                <a:spcPct val="125000"/>
              </a:lnSpc>
              <a:spcAft>
                <a:spcPts val="600"/>
              </a:spcAft>
              <a:defRPr sz="900" b="0">
                <a:solidFill>
                  <a:srgbClr val="94A3B8"/>
                </a:solidFill>
                <a:latin typeface="Segoe UI"/>
              </a:defRPr>
            </a:pPr>
            <a:r>
              <a:t>  Remediation: Upgrade to AES-GCM utilizing hardware keystore.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rPr sz="2200" b="1">
                <a:solidFill>
                  <a:srgbClr val="10B981"/>
                </a:solidFill>
                <a:latin typeface="Segoe UI"/>
              </a:rPr>
              <a:t>الربط الخارجي والتكاملات السحابية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1">
                <a:solidFill>
                  <a:srgbClr val="94A3B8"/>
                </a:solidFill>
                <a:latin typeface="Segoe UI"/>
              </a:defRPr>
            </a:pPr>
            <a:r>
              <a:rPr sz="1400" b="1">
                <a:solidFill>
                  <a:srgbClr val="94A3B8"/>
                </a:solidFill>
                <a:latin typeface="Segoe UI"/>
              </a:rPr>
              <a:t>Active Cloud and Enterprise Integration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6792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التكاملات السحابية النشطة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Active Integrations and Connectors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الإشعارات الجماعية (FCM): استخدام firebase-admin لبث الإشعارات وتنبيهات الهواتف للعملاء.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Firebase Cloud Messaging delivering push alerts to mobile devices.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الخرائط وتتبع الموقع: مكتبة Google Maps Flutter لالتقاط ورسم موقع السائق حياً للعميل.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Google Maps APIs plotting active driver pathways.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التحديثات اللحظية: Socket.io WebSockets لتعديل عدادات المبيعات والطلب باللوحة حياً.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WebSocket listeners pushing instant metrics to admin panel.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خارطة طريق الربط المؤسسي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Enterprise Integration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الربط المحاسبي (SAP / Oracle): بناء Ledger Sync Worker لترحيل القيود والـ snapshots يومياً.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Accounting worker syncing daily financial snapshots to ERP structures.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الربط التسويقي (Salesforce): استخدام Webhooks مبنية على الـ Outbox لإرسال بيانات الـ CRM.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Outbox pattern webhooks dispatching qualified leads to corporate CRMs.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مفاتيح الربط الخارجي: بوابة API Keys لتأمين وتسهيل الربط البرمجي مع تطبيقات التوصيل.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API key gateway allowing external logistics channels to plug 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rPr sz="2200" b="1">
                <a:solidFill>
                  <a:srgbClr val="10B981"/>
                </a:solidFill>
                <a:latin typeface="Segoe UI"/>
              </a:rPr>
              <a:t>التحليل التجاري وجاهزية المنتج لـ B2B 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5056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1400" b="1">
                <a:solidFill>
                  <a:srgbClr val="94A3B8"/>
                </a:solidFill>
                <a:latin typeface="Segoe UI"/>
              </a:defRPr>
            </a:pPr>
            <a:r>
              <a:rPr sz="1400" b="1">
                <a:solidFill>
                  <a:srgbClr val="94A3B8"/>
                </a:solidFill>
                <a:latin typeface="Segoe UI"/>
              </a:rPr>
              <a:t>Business Value and SaaS Multi-Tenant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6792" y="1371600"/>
            <a:ext cx="49377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جوهر المنتج البرمجي ومستخدميه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Core Business Product and Target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جوهر المنظومة: حل رقمي متكامل يدمج المبيعات وتسيير الفروع وعلاقات العملاء CRM.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 restaurant operating system with integrated CRM functionalities.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الفئات المستهدفة: عملاء التجزئة لطلب الوجبات، وموظفو الفروع للمطبخ، والمسوقون للخصومات.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Retail consumers (B2C), kitchen workers, and enterprise CRM admins.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النموذج التشغيلي: نظام مستأجر فردي (Single Tenant) يخدم فروعاً متعددة لشركة واحدة.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Current codebase running as multi-branch single-tenant deployment.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1600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rPr sz="1600" b="1">
                <a:solidFill>
                  <a:srgbClr val="10B981"/>
                </a:solidFill>
                <a:latin typeface="Segoe UI"/>
              </a:rPr>
              <a:t>متطلبات تفعيل SaaS التجاري</a:t>
            </a:r>
          </a:p>
          <a:p>
            <a:pPr algn="r">
              <a:lnSpc>
                <a:spcPct val="125000"/>
              </a:lnSpc>
              <a:spcAft>
                <a:spcPts val="0"/>
              </a:spcAft>
              <a:defRPr sz="1200" b="1">
                <a:solidFill>
                  <a:srgbClr val="94A3B8"/>
                </a:solidFill>
                <a:latin typeface="Segoe UI"/>
              </a:defRPr>
            </a:pPr>
            <a:r>
              <a:rPr sz="1200" b="1">
                <a:solidFill>
                  <a:srgbClr val="94A3B8"/>
                </a:solidFill>
                <a:latin typeface="Segoe UI"/>
              </a:rPr>
              <a:t>Multi-Tenancy Architecture Conversion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48840"/>
            <a:ext cx="4480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إضافة جدول المستأجرين (Tenant): إدخال نموذج Tenant وربط كافة البيانات بـ tenantId.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Tenant database schema additions linking all entities to a tenantId.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تعديل سياسات RLS: التحقق من معرّف المستأجر لمنع تداخل الحسابات بين الشركات المشتركة.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DB-level RLS policy updates validating tenant session bounds.</a:t>
            </a:r>
          </a:p>
          <a:p>
            <a:pPr algn="r">
              <a:lnSpc>
                <a:spcPct val="125000"/>
              </a:lnSpc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نظام الفوترة والاشتراك: الدمج مع Stripe Billing لمعالجة الاشتراكات الشهريـة آلياً.</a:t>
            </a:r>
          </a:p>
          <a:p>
            <a:pPr algn="r">
              <a:lnSpc>
                <a:spcPct val="125000"/>
              </a:lnSpc>
              <a:spcAft>
                <a:spcPts val="800"/>
              </a:spcAft>
              <a:defRPr sz="1000" b="0">
                <a:solidFill>
                  <a:srgbClr val="94A3B8"/>
                </a:solidFill>
                <a:latin typeface="Segoe UI"/>
              </a:defRPr>
            </a:pPr>
            <a:r>
              <a:t>  Stripe Billing webhooks managing monthly tenant subscription plans.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4575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575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800"/>
              </a:spcAft>
              <a:defRPr sz="3400" b="1">
                <a:solidFill>
                  <a:srgbClr val="F8FAFC"/>
                </a:solidFill>
                <a:latin typeface="Segoe UI"/>
              </a:defRPr>
            </a:pPr>
            <a:r>
              <a:rPr sz="3400" b="1">
                <a:solidFill>
                  <a:srgbClr val="F8FAFC"/>
                </a:solidFill>
                <a:latin typeface="Segoe UI"/>
              </a:rPr>
              <a:t>شكراً لكم</a:t>
            </a:r>
          </a:p>
          <a:p>
            <a:pPr algn="l">
              <a:lnSpc>
                <a:spcPct val="125000"/>
              </a:lnSpc>
              <a:spcAft>
                <a:spcPts val="0"/>
              </a:spcAft>
              <a:defRPr sz="2200" b="1">
                <a:solidFill>
                  <a:srgbClr val="94A3B8"/>
                </a:solidFill>
                <a:latin typeface="Segoe UI"/>
              </a:defRPr>
            </a:pPr>
            <a:r>
              <a:rPr sz="2200" b="1">
                <a:solidFill>
                  <a:srgbClr val="94A3B8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457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4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rPr sz="1600" b="0">
                <a:solidFill>
                  <a:srgbClr val="94A3B8"/>
                </a:solidFill>
                <a:latin typeface="Segoe UI"/>
              </a:rPr>
              <a:t>لأي استفسارات أو تفاصيل تقنية إضافية، يرجى مراجعة سجلات الكود المرفقة بالدراسة.</a:t>
            </a:r>
          </a:p>
          <a:p>
            <a:pPr algn="l">
              <a:lnSpc>
                <a:spcPct val="125000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Segoe UI"/>
              </a:defRPr>
            </a:pPr>
            <a:r>
              <a:rPr sz="1300" b="0">
                <a:solidFill>
                  <a:srgbClr val="64748B"/>
                </a:solidFill>
                <a:latin typeface="Segoe UI"/>
              </a:rPr>
              <a:t>For any questions or technical details, please refer to the attached source code logs.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